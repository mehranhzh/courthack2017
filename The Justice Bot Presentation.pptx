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  <p:sldId id="263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74" d="100"/>
          <a:sy n="74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216E-CED8-4684-8300-E2B89BF43220}" type="datetimeFigureOut">
              <a:rPr lang="en-US" smtClean="0"/>
              <a:t>4/23/2017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CF8D7-7DB1-4794-ACE7-763D4647B0C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81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216E-CED8-4684-8300-E2B89BF43220}" type="datetimeFigureOut">
              <a:rPr lang="en-US" smtClean="0"/>
              <a:t>4/23/2017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CF8D7-7DB1-4794-ACE7-763D4647B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280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216E-CED8-4684-8300-E2B89BF43220}" type="datetimeFigureOut">
              <a:rPr lang="en-US" smtClean="0"/>
              <a:t>4/23/2017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CF8D7-7DB1-4794-ACE7-763D4647B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18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216E-CED8-4684-8300-E2B89BF43220}" type="datetimeFigureOut">
              <a:rPr lang="en-US" smtClean="0"/>
              <a:t>4/23/2017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CF8D7-7DB1-4794-ACE7-763D4647B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1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216E-CED8-4684-8300-E2B89BF43220}" type="datetimeFigureOut">
              <a:rPr lang="en-US" smtClean="0"/>
              <a:t>4/23/2017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CF8D7-7DB1-4794-ACE7-763D4647B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58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216E-CED8-4684-8300-E2B89BF43220}" type="datetimeFigureOut">
              <a:rPr lang="en-US" smtClean="0"/>
              <a:t>4/23/2017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CF8D7-7DB1-4794-ACE7-763D4647B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9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216E-CED8-4684-8300-E2B89BF43220}" type="datetimeFigureOut">
              <a:rPr lang="en-US" smtClean="0"/>
              <a:t>4/23/2017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CF8D7-7DB1-4794-ACE7-763D4647B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607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216E-CED8-4684-8300-E2B89BF43220}" type="datetimeFigureOut">
              <a:rPr lang="en-US" smtClean="0"/>
              <a:t>4/23/2017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CF8D7-7DB1-4794-ACE7-763D4647B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61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216E-CED8-4684-8300-E2B89BF43220}" type="datetimeFigureOut">
              <a:rPr lang="en-US" smtClean="0"/>
              <a:t>4/23/2017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CF8D7-7DB1-4794-ACE7-763D4647B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40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216E-CED8-4684-8300-E2B89BF43220}" type="datetimeFigureOut">
              <a:rPr lang="en-US" smtClean="0"/>
              <a:t>4/23/2017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CF8D7-7DB1-4794-ACE7-763D4647B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03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216E-CED8-4684-8300-E2B89BF43220}" type="datetimeFigureOut">
              <a:rPr lang="en-US" smtClean="0"/>
              <a:t>4/23/2017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CF8D7-7DB1-4794-ACE7-763D4647B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92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216E-CED8-4684-8300-E2B89BF43220}" type="datetimeFigureOut">
              <a:rPr lang="en-US" smtClean="0"/>
              <a:t>4/23/2017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CF8D7-7DB1-4794-ACE7-763D4647B0C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4479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216E-CED8-4684-8300-E2B89BF43220}" type="datetimeFigureOut">
              <a:rPr lang="en-US" smtClean="0"/>
              <a:t>4/23/2017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CF8D7-7DB1-4794-ACE7-763D4647B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55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216E-CED8-4684-8300-E2B89BF43220}" type="datetimeFigureOut">
              <a:rPr lang="en-US" smtClean="0"/>
              <a:t>4/23/2017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CF8D7-7DB1-4794-ACE7-763D4647B0C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3257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216E-CED8-4684-8300-E2B89BF43220}" type="datetimeFigureOut">
              <a:rPr lang="en-US" smtClean="0"/>
              <a:t>4/23/2017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CF8D7-7DB1-4794-ACE7-763D4647B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14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216E-CED8-4684-8300-E2B89BF43220}" type="datetimeFigureOut">
              <a:rPr lang="en-US" smtClean="0"/>
              <a:t>4/23/2017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CF8D7-7DB1-4794-ACE7-763D4647B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562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A216E-CED8-4684-8300-E2B89BF43220}" type="datetimeFigureOut">
              <a:rPr lang="en-US" smtClean="0"/>
              <a:t>4/23/2017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CF8D7-7DB1-4794-ACE7-763D4647B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98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EEA216E-CED8-4684-8300-E2B89BF43220}" type="datetimeFigureOut">
              <a:rPr lang="en-US" smtClean="0"/>
              <a:t>4/23/2017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3FCF8D7-7DB1-4794-ACE7-763D4647B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855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cap="none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The Justice 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#</a:t>
            </a:r>
            <a:r>
              <a:rPr lang="en-US" b="1" dirty="0" err="1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CourtHack</a:t>
            </a:r>
            <a:r>
              <a:rPr lang="en-US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 2017 </a:t>
            </a:r>
            <a:endParaRPr lang="en-US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712" y="970208"/>
            <a:ext cx="3022242" cy="219799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03634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37400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5277" y="688065"/>
            <a:ext cx="8534400" cy="1507067"/>
          </a:xfrm>
        </p:spPr>
        <p:txBody>
          <a:bodyPr/>
          <a:lstStyle/>
          <a:p>
            <a:r>
              <a:rPr lang="en-US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Introducing 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1947" y="2195132"/>
            <a:ext cx="8534400" cy="2317720"/>
          </a:xfrm>
        </p:spPr>
        <p:txBody>
          <a:bodyPr>
            <a:normAutofit/>
          </a:bodyPr>
          <a:lstStyle/>
          <a:p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Mehran </a:t>
            </a:r>
            <a:r>
              <a:rPr lang="en-US" sz="2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Hosseinzadeh</a:t>
            </a:r>
            <a:endParaRPr lang="en-US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r>
              <a:rPr lang="en-US" sz="2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Touseef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28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Ikram</a:t>
            </a:r>
            <a:endParaRPr lang="en-US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Joe Wheeler</a:t>
            </a:r>
          </a:p>
        </p:txBody>
      </p:sp>
    </p:spTree>
    <p:extLst>
      <p:ext uri="{BB962C8B-B14F-4D97-AF65-F5344CB8AC3E}">
        <p14:creationId xmlns:p14="http://schemas.microsoft.com/office/powerpoint/2010/main" val="288623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104" y="1973687"/>
            <a:ext cx="8534400" cy="3615267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Social Support for Families in Crisis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Social media platform used to deliver tools and access expertise</a:t>
            </a:r>
          </a:p>
          <a:p>
            <a:r>
              <a:rPr lang="en-US" b="1" dirty="0">
                <a:solidFill>
                  <a:schemeClr val="bg1"/>
                </a:solidFill>
              </a:rPr>
              <a:t>Fairness: Leveling the Playing Field 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Explanation of process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Maps for getting to court</a:t>
            </a:r>
          </a:p>
          <a:p>
            <a:r>
              <a:rPr lang="en-US" b="1" dirty="0">
                <a:solidFill>
                  <a:schemeClr val="bg1"/>
                </a:solidFill>
              </a:rPr>
              <a:t>Translating Legalese into Folksonomy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Plain language bot with access to extensive legal glossary</a:t>
            </a:r>
          </a:p>
          <a:p>
            <a:r>
              <a:rPr lang="en-US" b="1" dirty="0">
                <a:solidFill>
                  <a:schemeClr val="bg1"/>
                </a:solidFill>
              </a:rPr>
              <a:t>Understanding Customer Experience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Utilization statistics</a:t>
            </a:r>
          </a:p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87104" y="250182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en-US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Challenge Sets Addressed – </a:t>
            </a:r>
            <a:br>
              <a:rPr lang="en-US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</a:br>
            <a:r>
              <a:rPr lang="en-US" sz="31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Wildcard! Closing Gaps in the Court System</a:t>
            </a:r>
          </a:p>
        </p:txBody>
      </p:sp>
    </p:spTree>
    <p:extLst>
      <p:ext uri="{BB962C8B-B14F-4D97-AF65-F5344CB8AC3E}">
        <p14:creationId xmlns:p14="http://schemas.microsoft.com/office/powerpoint/2010/main" val="2392650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01620" y="366471"/>
            <a:ext cx="6154470" cy="960053"/>
          </a:xfrm>
        </p:spPr>
        <p:txBody>
          <a:bodyPr/>
          <a:lstStyle/>
          <a:p>
            <a:r>
              <a:rPr lang="en-US" b="1" cap="none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Toolset</a:t>
            </a:r>
            <a:endParaRPr lang="en-US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1620" y="1213711"/>
            <a:ext cx="4937655" cy="447944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400" b="1" dirty="0">
              <a:solidFill>
                <a:schemeClr val="bg1"/>
              </a:solidFill>
            </a:endParaRPr>
          </a:p>
          <a:p>
            <a:pPr lvl="1"/>
            <a:r>
              <a:rPr lang="en-US" sz="2000" b="1" dirty="0" smtClean="0">
                <a:solidFill>
                  <a:schemeClr val="bg1"/>
                </a:solidFill>
              </a:rPr>
              <a:t>Facebook Messenger</a:t>
            </a:r>
            <a:endParaRPr lang="en-US" sz="2000" b="1" dirty="0">
              <a:solidFill>
                <a:schemeClr val="bg1"/>
              </a:solidFill>
            </a:endParaRPr>
          </a:p>
          <a:p>
            <a:pPr lvl="1"/>
            <a:r>
              <a:rPr lang="en-US" sz="2000" b="1" dirty="0" err="1" smtClean="0">
                <a:solidFill>
                  <a:schemeClr val="bg1"/>
                </a:solidFill>
              </a:rPr>
              <a:t>ChatFuel</a:t>
            </a:r>
            <a:r>
              <a:rPr lang="en-US" sz="2000" b="1" dirty="0" smtClean="0">
                <a:solidFill>
                  <a:schemeClr val="bg1"/>
                </a:solidFill>
              </a:rPr>
              <a:t> UI, NLP, AI</a:t>
            </a:r>
          </a:p>
          <a:p>
            <a:pPr lvl="1"/>
            <a:r>
              <a:rPr lang="en-US" sz="2000" b="1" dirty="0" smtClean="0">
                <a:solidFill>
                  <a:schemeClr val="bg1"/>
                </a:solidFill>
              </a:rPr>
              <a:t>Import.io to scrap 700+ legal </a:t>
            </a:r>
            <a:r>
              <a:rPr lang="en-US" sz="2000" b="1" dirty="0">
                <a:solidFill>
                  <a:schemeClr val="bg1"/>
                </a:solidFill>
              </a:rPr>
              <a:t>terms and </a:t>
            </a:r>
            <a:r>
              <a:rPr lang="en-US" sz="2000" b="1" dirty="0" smtClean="0">
                <a:solidFill>
                  <a:schemeClr val="bg1"/>
                </a:solidFill>
              </a:rPr>
              <a:t>definitions to the bot.</a:t>
            </a:r>
          </a:p>
          <a:p>
            <a:pPr lvl="1"/>
            <a:r>
              <a:rPr lang="en-US" sz="2000" b="1" dirty="0" smtClean="0">
                <a:solidFill>
                  <a:schemeClr val="bg1"/>
                </a:solidFill>
              </a:rPr>
              <a:t>PHP/MySQL to 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9" name="Picture 8" descr="Stat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876" y="427357"/>
            <a:ext cx="5403761" cy="2717232"/>
          </a:xfrm>
          <a:prstGeom prst="rect">
            <a:avLst/>
          </a:prstGeom>
        </p:spPr>
      </p:pic>
      <p:pic>
        <p:nvPicPr>
          <p:cNvPr id="10" name="Picture 9" descr="stats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275" y="1308532"/>
            <a:ext cx="5265845" cy="2832386"/>
          </a:xfrm>
          <a:prstGeom prst="rect">
            <a:avLst/>
          </a:prstGeom>
        </p:spPr>
      </p:pic>
      <p:pic>
        <p:nvPicPr>
          <p:cNvPr id="11" name="Picture 10" descr="stats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942" y="2924280"/>
            <a:ext cx="4771627" cy="2202967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5"/>
          <a:srcRect l="16984" t="36458" r="45534" b="8333"/>
          <a:stretch>
            <a:fillRect/>
          </a:stretch>
        </p:blipFill>
        <p:spPr bwMode="auto">
          <a:xfrm>
            <a:off x="6088703" y="3536788"/>
            <a:ext cx="3333428" cy="2760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81824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454" y="1888365"/>
            <a:ext cx="8534400" cy="3615267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California Judicial Council</a:t>
            </a:r>
          </a:p>
          <a:p>
            <a:pPr lvl="1"/>
            <a:r>
              <a:rPr lang="en-US" sz="1600" b="1" dirty="0">
                <a:solidFill>
                  <a:schemeClr val="bg1"/>
                </a:solidFill>
              </a:rPr>
              <a:t>Glossary</a:t>
            </a:r>
          </a:p>
          <a:p>
            <a:pPr lvl="1"/>
            <a:r>
              <a:rPr lang="en-US" sz="1600" b="1" dirty="0">
                <a:solidFill>
                  <a:schemeClr val="bg1"/>
                </a:solidFill>
              </a:rPr>
              <a:t>Self-help resources</a:t>
            </a:r>
          </a:p>
          <a:p>
            <a:r>
              <a:rPr lang="en-US" sz="1800" b="1" dirty="0">
                <a:solidFill>
                  <a:schemeClr val="bg1"/>
                </a:solidFill>
              </a:rPr>
              <a:t>LA Superior Court Traffic Services Web Page (Feat. Gina)</a:t>
            </a:r>
          </a:p>
          <a:p>
            <a:pPr lvl="1"/>
            <a:r>
              <a:rPr lang="en-US" sz="1600" b="1" dirty="0">
                <a:solidFill>
                  <a:schemeClr val="bg1"/>
                </a:solidFill>
              </a:rPr>
              <a:t>Citation payment</a:t>
            </a:r>
          </a:p>
          <a:p>
            <a:pPr lvl="1"/>
            <a:r>
              <a:rPr lang="en-US" sz="1600" b="1" dirty="0">
                <a:solidFill>
                  <a:schemeClr val="bg1"/>
                </a:solidFill>
              </a:rPr>
              <a:t>Scheduling a hearing</a:t>
            </a:r>
          </a:p>
          <a:p>
            <a:r>
              <a:rPr lang="en-US" sz="1800" b="1" dirty="0">
                <a:solidFill>
                  <a:schemeClr val="bg1"/>
                </a:solidFill>
              </a:rPr>
              <a:t>California Department of Child Support Services</a:t>
            </a:r>
          </a:p>
          <a:p>
            <a:pPr lvl="1"/>
            <a:r>
              <a:rPr lang="en-US" sz="1600" b="1" dirty="0">
                <a:solidFill>
                  <a:schemeClr val="bg1"/>
                </a:solidFill>
              </a:rPr>
              <a:t>Child support calculator</a:t>
            </a:r>
          </a:p>
          <a:p>
            <a:r>
              <a:rPr lang="en-US" sz="1800" b="1" dirty="0">
                <a:solidFill>
                  <a:schemeClr val="bg1"/>
                </a:solidFill>
              </a:rPr>
              <a:t>California State Bar</a:t>
            </a:r>
          </a:p>
          <a:p>
            <a:pPr lvl="1"/>
            <a:r>
              <a:rPr lang="en-US" sz="1600" b="1" dirty="0">
                <a:solidFill>
                  <a:schemeClr val="bg1"/>
                </a:solidFill>
              </a:rPr>
              <a:t>Lawyer referral</a:t>
            </a:r>
          </a:p>
          <a:p>
            <a:r>
              <a:rPr lang="en-US" sz="1800" b="1" dirty="0" err="1" smtClean="0">
                <a:solidFill>
                  <a:schemeClr val="bg1"/>
                </a:solidFill>
              </a:rPr>
              <a:t>Avvo</a:t>
            </a:r>
            <a:endParaRPr lang="en-US" sz="1800" b="1" dirty="0">
              <a:solidFill>
                <a:schemeClr val="bg1"/>
              </a:solidFill>
            </a:endParaRPr>
          </a:p>
          <a:p>
            <a:pPr lvl="1"/>
            <a:r>
              <a:rPr lang="en-US" sz="1600" b="1" dirty="0">
                <a:solidFill>
                  <a:schemeClr val="bg1"/>
                </a:solidFill>
              </a:rPr>
              <a:t>Lawyer referral</a:t>
            </a:r>
          </a:p>
          <a:p>
            <a:pPr lvl="1"/>
            <a:r>
              <a:rPr lang="en-US" sz="1600" b="1" dirty="0">
                <a:solidFill>
                  <a:schemeClr val="bg1"/>
                </a:solidFill>
              </a:rPr>
              <a:t>Question and answer service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42544" y="72205"/>
            <a:ext cx="8534400" cy="1507067"/>
          </a:xfrm>
        </p:spPr>
        <p:txBody>
          <a:bodyPr/>
          <a:lstStyle/>
          <a:p>
            <a:r>
              <a:rPr lang="en-US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72901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818" y="1960808"/>
            <a:ext cx="8534400" cy="3615267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Add other states</a:t>
            </a:r>
          </a:p>
          <a:p>
            <a:r>
              <a:rPr lang="en-US" b="1" dirty="0">
                <a:solidFill>
                  <a:schemeClr val="bg1"/>
                </a:solidFill>
              </a:rPr>
              <a:t>Integrate more APIs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Fee calculators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Maps / Floor Plans</a:t>
            </a:r>
          </a:p>
          <a:p>
            <a:r>
              <a:rPr lang="en-US" b="1" dirty="0">
                <a:solidFill>
                  <a:schemeClr val="bg1"/>
                </a:solidFill>
              </a:rPr>
              <a:t>Transition to more sophisticated bot platform</a:t>
            </a:r>
          </a:p>
          <a:p>
            <a:r>
              <a:rPr lang="en-US" b="1" dirty="0">
                <a:solidFill>
                  <a:schemeClr val="bg1"/>
                </a:solidFill>
              </a:rPr>
              <a:t>Add a pay wall for monetization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Move some features behind pay wall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Add value added feature behind the pay wall</a:t>
            </a:r>
          </a:p>
          <a:p>
            <a:pPr lvl="1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19818" y="147152"/>
            <a:ext cx="8534400" cy="1507067"/>
          </a:xfrm>
        </p:spPr>
        <p:txBody>
          <a:bodyPr/>
          <a:lstStyle/>
          <a:p>
            <a:r>
              <a:rPr lang="en-US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1508904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Demostration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21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225</TotalTime>
  <Words>177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Slice</vt:lpstr>
      <vt:lpstr>The Justice Bot</vt:lpstr>
      <vt:lpstr>Introducing the Team</vt:lpstr>
      <vt:lpstr>Challenge Sets Addressed –  Wildcard! Closing Gaps in the Court System</vt:lpstr>
      <vt:lpstr>Toolset</vt:lpstr>
      <vt:lpstr>Resources</vt:lpstr>
      <vt:lpstr>Future Enhancements</vt:lpstr>
      <vt:lpstr>Demostration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Justice Bot</dc:title>
  <dc:creator>Joseph D. Wheeler</dc:creator>
  <cp:lastModifiedBy>ASUS</cp:lastModifiedBy>
  <cp:revision>25</cp:revision>
  <dcterms:created xsi:type="dcterms:W3CDTF">2017-04-23T11:20:02Z</dcterms:created>
  <dcterms:modified xsi:type="dcterms:W3CDTF">2017-04-23T15:08:13Z</dcterms:modified>
</cp:coreProperties>
</file>